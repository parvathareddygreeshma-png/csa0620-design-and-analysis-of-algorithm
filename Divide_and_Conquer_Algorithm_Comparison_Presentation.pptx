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vathareddygreeshma@gmail.com" userId="83eb432fd38a9c7f" providerId="LiveId" clId="{3F02949E-20DE-4F7B-958B-0FC63172E032}"/>
    <pc:docChg chg="custSel addSld modSld">
      <pc:chgData name="parvathareddygreeshma@gmail.com" userId="83eb432fd38a9c7f" providerId="LiveId" clId="{3F02949E-20DE-4F7B-958B-0FC63172E032}" dt="2026-07-23T04:47:19.656" v="30" actId="1076"/>
      <pc:docMkLst>
        <pc:docMk/>
      </pc:docMkLst>
      <pc:sldChg chg="addSp delSp modSp new mod">
        <pc:chgData name="parvathareddygreeshma@gmail.com" userId="83eb432fd38a9c7f" providerId="LiveId" clId="{3F02949E-20DE-4F7B-958B-0FC63172E032}" dt="2026-07-23T04:47:19.656" v="30" actId="1076"/>
        <pc:sldMkLst>
          <pc:docMk/>
          <pc:sldMk cId="3505050285" sldId="266"/>
        </pc:sldMkLst>
        <pc:spChg chg="del mod">
          <ac:chgData name="parvathareddygreeshma@gmail.com" userId="83eb432fd38a9c7f" providerId="LiveId" clId="{3F02949E-20DE-4F7B-958B-0FC63172E032}" dt="2026-07-23T04:46:40.598" v="13" actId="21"/>
          <ac:spMkLst>
            <pc:docMk/>
            <pc:sldMk cId="3505050285" sldId="266"/>
            <ac:spMk id="2" creationId="{B13FE410-3F31-880C-2207-9FE19288F19D}"/>
          </ac:spMkLst>
        </pc:spChg>
        <pc:spChg chg="add mod">
          <ac:chgData name="parvathareddygreeshma@gmail.com" userId="83eb432fd38a9c7f" providerId="LiveId" clId="{3F02949E-20DE-4F7B-958B-0FC63172E032}" dt="2026-07-23T04:47:19.656" v="30" actId="1076"/>
          <ac:spMkLst>
            <pc:docMk/>
            <pc:sldMk cId="3505050285" sldId="266"/>
            <ac:spMk id="3" creationId="{3671A2A3-B1E5-FB90-97E8-666C748C0B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222739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Algorithm Comparison with Different Branching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080" y="4932680"/>
            <a:ext cx="6400800" cy="1752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Parvatha Reddy Greeshma</a:t>
            </a:r>
          </a:p>
          <a:p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Register No: 192424418</a:t>
            </a:r>
          </a:p>
          <a:p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CSA0620: </a:t>
            </a:r>
            <a:r>
              <a:rPr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97F29-4799-628E-8BF3-E09F9A440C97}"/>
              </a:ext>
            </a:extLst>
          </p:cNvPr>
          <p:cNvSpPr txBox="1"/>
          <p:nvPr/>
        </p:nvSpPr>
        <p:spPr>
          <a:xfrm>
            <a:off x="2490468" y="1282699"/>
            <a:ext cx="416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3E7500-DBC7-69F4-0DDC-95F64C0DF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82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534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 is an algorithm design technique where a problem is solved by dividing it into smaller subproblems, solving them recursively, and combining the results.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problem into smaller subproblems.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each subproblem recursively.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solutions to obtain the final answer.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Sort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Strassen Matrix Multiplication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A720C963-4525-FD8F-96E9-0D10B1654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742F2E-413D-B840-3F83-1D67DD54C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842" y="284091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COMPARING TWO DIVIDE AND CONQUER ALGORITHMS</a:t>
                </a:r>
              </a:p>
              <a:p>
                <a:pPr marL="0" indent="0">
                  <a:buNone/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Divides into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subproblems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subproblem size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n/2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Combine cost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B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=4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Divides into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subproblems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subproblem size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n/2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Combine cost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Determine which algorithm is more efficient using the Master Theorem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26A99D90-8236-A48C-E00E-17FD95D0C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30" y="368474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05CB2-D518-36E4-CE75-A26613FFC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282" y="237512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00480"/>
                <a:ext cx="9814560" cy="5090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recursive calls 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division factor 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</a:t>
                </a: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work done outside recursion</a:t>
                </a:r>
              </a:p>
              <a:p>
                <a:pPr marL="0" indent="0">
                  <a:buNone/>
                </a:pPr>
                <a:endParaRPr lang="en-IN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00480"/>
                <a:ext cx="9814560" cy="5090160"/>
              </a:xfrm>
              <a:blipFill>
                <a:blip r:embed="rId2"/>
                <a:stretch>
                  <a:fillRect l="-497" t="-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5A40E6E-BBEE-7DD0-D06C-2D2610E17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00333"/>
            <a:ext cx="4206605" cy="1760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21C1B-BB3A-8B35-1920-31716DB4A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365" y="3283778"/>
            <a:ext cx="4206605" cy="1776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B779D4-14AA-1375-F459-2660A5654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052" y="5108493"/>
            <a:ext cx="3926509" cy="1685839"/>
          </a:xfrm>
          <a:prstGeom prst="rect">
            <a:avLst/>
          </a:prstGeom>
        </p:spPr>
      </p:pic>
      <p:pic>
        <p:nvPicPr>
          <p:cNvPr id="11" name="Picture 10" descr="Saveetha School of Engineering, Chennai, Tamil Nadu - Careerindia">
            <a:extLst>
              <a:ext uri="{FF2B5EF4-FFF2-40B4-BE49-F238E27FC236}">
                <a16:creationId xmlns:a16="http://schemas.microsoft.com/office/drawing/2014/main" id="{180B2229-052A-8613-C524-14602CD22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3B2498-8BC8-9EAD-B249-FCDA4181A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8722" y="293235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840" y="142558"/>
            <a:ext cx="611632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ALGORITHM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5760" y="1417638"/>
                <a:ext cx="82296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Recurrence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2 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2 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f(n)=n </a:t>
                </a: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80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800">
                          <a:latin typeface="Cambria Math" panose="02040503050406030204" pitchFamily="18" charset="0"/>
                        </a:rPr>
                        <m:t>2=1</m:t>
                      </m:r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180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Master Theorem </a:t>
                </a: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 sz="1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1800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</m:borderBox>
                    </m:oMath>
                  </m:oMathPara>
                </a14:m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Sort </a:t>
                </a: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Divide and Conquer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5760" y="1417638"/>
                <a:ext cx="8229600" cy="4525963"/>
              </a:xfrm>
              <a:blipFill>
                <a:blip r:embed="rId2"/>
                <a:stretch>
                  <a:fillRect l="-593" t="-809" b="-17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B96E0A46-C5AD-498D-9D15-E0E9512D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1EEB56-655A-CFE4-BE58-513332F71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160" y="250770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040" y="274638"/>
            <a:ext cx="613664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ALGORITHM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Recurrence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4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2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f(n)=n </a:t>
                </a: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4=2</m:t>
                      </m:r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Master Theorem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1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IN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Θ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B21D5E6B-2E53-C545-1841-64850D486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05F17-030D-AEA9-095F-1F7BA3DB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212" y="237512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040" y="274638"/>
            <a:ext cx="62484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1148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n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/      \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n/2      n/2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/  \      /  \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n/4 n/4  n/4 n/4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children =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 = </a:t>
                </a:r>
                <a:r>
                  <a:rPr lang="en-I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log₂n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14800" cy="4525963"/>
              </a:xfrm>
              <a:blipFill>
                <a:blip r:embed="rId2"/>
                <a:stretch>
                  <a:fillRect l="-3407" t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9CB772-3157-1A17-744F-5262F966E17F}"/>
                  </a:ext>
                </a:extLst>
              </p:cNvPr>
              <p:cNvSpPr txBox="1"/>
              <p:nvPr/>
            </p:nvSpPr>
            <p:spPr>
              <a:xfrm>
                <a:off x="4528634" y="1595438"/>
                <a:ext cx="4615366" cy="4062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B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n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/      /      \       \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n/2   n/2     n/2     n/2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/ | \  ...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node creates 4 children</a:t>
                </a: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 = </a:t>
                </a:r>
                <a:r>
                  <a:rPr lang="en-IN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log₂n</a:t>
                </a:r>
                <a:endParaRPr lang="en-I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Cost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000" b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I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3000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9CB772-3157-1A17-744F-5262F966E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634" y="1595438"/>
                <a:ext cx="4615366" cy="4062651"/>
              </a:xfrm>
              <a:prstGeom prst="rect">
                <a:avLst/>
              </a:prstGeom>
              <a:blipFill>
                <a:blip r:embed="rId3"/>
                <a:stretch>
                  <a:fillRect l="-3170" t="-1952" r="-25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Saveetha School of Engineering, Chennai, Tamil Nadu - Careerindia">
            <a:extLst>
              <a:ext uri="{FF2B5EF4-FFF2-40B4-BE49-F238E27FC236}">
                <a16:creationId xmlns:a16="http://schemas.microsoft.com/office/drawing/2014/main" id="{199FEEAD-337B-B622-3868-F9C73E577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8A1C0-4F34-EC06-9EC8-EB430D185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960" y="250770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A54A7C-9709-5056-3982-E57F322A0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29853"/>
              </p:ext>
            </p:extLst>
          </p:nvPr>
        </p:nvGraphicFramePr>
        <p:xfrm>
          <a:off x="457200" y="1554480"/>
          <a:ext cx="8229600" cy="477757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58107793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6286705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36537085"/>
                    </a:ext>
                  </a:extLst>
                </a:gridCol>
              </a:tblGrid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95490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T(n)=2T(n/2)+n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T(n)=4T(n/2)+n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638111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070166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3690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185285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logb(a)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600964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Master Theorem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311014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 log 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Θ(n²)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76024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128431"/>
                  </a:ext>
                </a:extLst>
              </a:tr>
            </a:tbl>
          </a:graphicData>
        </a:graphic>
      </p:graphicFrame>
      <p:pic>
        <p:nvPicPr>
          <p:cNvPr id="8" name="Picture 7" descr="Saveetha School of Engineering, Chennai, Tamil Nadu - Careerindia">
            <a:extLst>
              <a:ext uri="{FF2B5EF4-FFF2-40B4-BE49-F238E27FC236}">
                <a16:creationId xmlns:a16="http://schemas.microsoft.com/office/drawing/2014/main" id="{71F60547-EC0F-3EE9-7636-8552E337F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8910F7-D927-453E-00A4-5831250ED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82" y="274638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algorithms follow the Divide and Conquer strategy.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Increasing the branching factor significantly increases the number of recursive calls.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Applying the Master Theorem gives: </a:t>
                </a:r>
              </a:p>
              <a:p>
                <a:pPr marL="457200" lvl="1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A: Θ(n log n) </a:t>
                </a:r>
              </a:p>
              <a:p>
                <a:pPr marL="457200" lvl="1" indent="0">
                  <a:buNone/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B: Θ(n²)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A is more efficient because it performs fewer recursive calls while maintaining a linear merge cost. 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Result: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𝛩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func>
                                <m:func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fName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  <m:r>
                            <m:rPr>
                              <m:nor/>
                            </m:rPr>
                            <a:rPr lang="en-IN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  <m:r>
                            <a:rPr lang="en-IN" b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nor/>
                            </m:rPr>
                            <a:rPr lang="en-IN" i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𝛩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Algorithm A is the preferred Divide and Conquer algorithm.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830" b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aveetha School of Engineering, Chennai, Tamil Nadu - Careerindia">
            <a:extLst>
              <a:ext uri="{FF2B5EF4-FFF2-40B4-BE49-F238E27FC236}">
                <a16:creationId xmlns:a16="http://schemas.microsoft.com/office/drawing/2014/main" id="{5EAEAF5B-8DA9-EF9A-6586-C1761B691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0" y="284091"/>
            <a:ext cx="1024128" cy="9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21CB4F-E442-D6D1-1577-61283984F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522" y="351813"/>
            <a:ext cx="1120588" cy="988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71A2A3-B1E5-FB90-97E8-666C748C0BB2}"/>
              </a:ext>
            </a:extLst>
          </p:cNvPr>
          <p:cNvSpPr/>
          <p:nvPr/>
        </p:nvSpPr>
        <p:spPr>
          <a:xfrm>
            <a:off x="1860754" y="2251588"/>
            <a:ext cx="5422491" cy="208443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0505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529</Words>
  <Application>Microsoft Office PowerPoint</Application>
  <PresentationFormat>On-screen Show (4:3)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Times New Roman</vt:lpstr>
      <vt:lpstr>Office Theme</vt:lpstr>
      <vt:lpstr>Divide and Conquer Algorithm Comparison with Different Branching Factors</vt:lpstr>
      <vt:lpstr>INTRODUCTION</vt:lpstr>
      <vt:lpstr>PROBLEM STATEMENT</vt:lpstr>
      <vt:lpstr>MASTER THEOREM</vt:lpstr>
      <vt:lpstr>ANALYSIS OF ALGORITHM A</vt:lpstr>
      <vt:lpstr>ANALYSIS OF ALGORITHM B</vt:lpstr>
      <vt:lpstr>RECURSIVE STRUCTURES</vt:lpstr>
      <vt:lpstr>COMPARISON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parvathareddygreeshma@gmail.com</cp:lastModifiedBy>
  <cp:revision>2</cp:revision>
  <dcterms:created xsi:type="dcterms:W3CDTF">2013-01-27T09:14:16Z</dcterms:created>
  <dcterms:modified xsi:type="dcterms:W3CDTF">2026-07-23T04:47:30Z</dcterms:modified>
  <cp:category/>
</cp:coreProperties>
</file>